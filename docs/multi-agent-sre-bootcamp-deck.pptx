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6E8EE"/>
                </a:solidFill>
                <a:latin typeface="Arial"/>
              </a:defRPr>
            </a:pPr>
            <a:r>
              <a:rPr sz="1200" b="0" i="0" u="none" strike="noStrike">
                <a:solidFill>
                  <a:srgbClr val="E6E8EE"/>
                </a:solidFill>
                <a:latin typeface="Arial"/>
              </a:rPr>
              <a:t>Test count by milestone (approx.)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5B8DE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6E8E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M2-3</c:v>
                  </c:pt>
                  <c:pt idx="1">
                    <c:v>M4</c:v>
                  </c:pt>
                  <c:pt idx="2">
                    <c:v>M5</c:v>
                  </c:pt>
                  <c:pt idx="3">
                    <c:v>M6</c:v>
                  </c:pt>
                  <c:pt idx="4">
                    <c:v>Post-M6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70</c:v>
                </c:pt>
                <c:pt idx="1">
                  <c:v>30</c:v>
                </c:pt>
                <c:pt idx="2">
                  <c:v>40</c:v>
                </c:pt>
                <c:pt idx="3">
                  <c:v>30</c:v>
                </c:pt>
                <c:pt idx="4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6E8E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0A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A2E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0A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1A21"/>
        </a:solidFill>
        <a:ln>
          <a:noFill/>
        </a:ln>
        <a:effectLst/>
      </c:spPr>
    </c:plotArea>
    <c:plotVisOnly val="1"/>
    <c:dispBlanksAs val="span"/>
  </c:chart>
  <c:spPr>
    <a:solidFill>
      <a:srgbClr val="171A2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9144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C2029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50876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210312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232838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81160" y="365760"/>
            <a:ext cx="457200" cy="45720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incident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 for Kubernetes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fire, the platform investigates on its own, produces a grounded root-cause report and an execution-ready runbook — and a human approves anything that touches the cluster.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6080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Bootcamp Capstone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310896" cy="31089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" y="530352"/>
            <a:ext cx="109728" cy="109728"/>
          </a:xfrm>
          <a:prstGeom prst="ellipse">
            <a:avLst/>
          </a:prstGeom>
          <a:solidFill>
            <a:srgbClr val="0F1115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SRE toil doesn't scale with headcount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1280160"/>
          </a:xfrm>
          <a:prstGeom prst="roundRect">
            <a:avLst>
              <a:gd name="adj" fmla="val 6429"/>
            </a:avLst>
          </a:prstGeom>
          <a:solidFill>
            <a:srgbClr val="171A2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737360" y="167335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outpace attention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35040" y="1673352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cascading outage can fire dozens of alerts in minutes. Someone still has to open Grafana, Jaeger, and kubectl, by hand, for every one.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90088"/>
            <a:ext cx="11247120" cy="1280160"/>
          </a:xfrm>
          <a:prstGeom prst="roundRect">
            <a:avLst>
              <a:gd name="adj" fmla="val 6429"/>
            </a:avLst>
          </a:prstGeom>
          <a:solidFill>
            <a:srgbClr val="171A2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1868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737360" y="31546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lives across three tools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35040" y="3154680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say what broke. Traces say where. Kubernetes events say why. No single dashboard correlates all three under time pressure.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471416"/>
            <a:ext cx="11247120" cy="1280160"/>
          </a:xfrm>
          <a:prstGeom prst="roundRect">
            <a:avLst>
              <a:gd name="adj" fmla="val 6429"/>
            </a:avLst>
          </a:prstGeom>
          <a:solidFill>
            <a:srgbClr val="171A21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700016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2E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1737360" y="463600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Tribal knowledge doesn't transfer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035040" y="4636008"/>
            <a:ext cx="53949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 who remembers last quarter's near-identical incident isn't always the one on call this time.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310896" cy="31089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" y="530352"/>
            <a:ext cx="109728" cy="109728"/>
          </a:xfrm>
          <a:prstGeom prst="ellipse">
            <a:avLst/>
          </a:prstGeom>
          <a:solidFill>
            <a:srgbClr val="0F1115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copilot, two ways in, one approval gate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6766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Pull: a human asks the copilot a question over chat. Push: Alertmanager posts a firing alert and the copilot investigates it with nobody watching. Both converge on the same LangGraph agent, the same tool set, and the same human-in-the-loop approval before anything touches the cluster.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171A21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3657600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9359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14400" y="43251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TOOLS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9272" y="342900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171A21"/>
          </a:solidFill>
          <a:ln/>
        </p:spPr>
      </p:sp>
      <p:sp>
        <p:nvSpPr>
          <p:cNvPr id="12" name="Shape 10"/>
          <p:cNvSpPr/>
          <p:nvPr/>
        </p:nvSpPr>
        <p:spPr>
          <a:xfrm>
            <a:off x="3547872" y="3657600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3776472" y="359359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776472" y="43251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AGENTS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81344" y="342900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171A21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9944" y="3657600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D29922"/>
          </a:solidFill>
          <a:ln/>
        </p:spPr>
      </p:sp>
      <p:sp>
        <p:nvSpPr>
          <p:cNvPr id="17" name="Text 15"/>
          <p:cNvSpPr/>
          <p:nvPr/>
        </p:nvSpPr>
        <p:spPr>
          <a:xfrm>
            <a:off x="6638544" y="359359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638544" y="43251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SHIPPED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43416" y="342900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171A21"/>
          </a:solidFill>
          <a:ln/>
        </p:spPr>
      </p:sp>
      <p:sp>
        <p:nvSpPr>
          <p:cNvPr id="20" name="Shape 18"/>
          <p:cNvSpPr/>
          <p:nvPr/>
        </p:nvSpPr>
        <p:spPr>
          <a:xfrm>
            <a:off x="9272016" y="3657600"/>
            <a:ext cx="109728" cy="1051560"/>
          </a:xfrm>
          <a:prstGeom prst="roundRect">
            <a:avLst>
              <a:gd name="adj" fmla="val 50000"/>
            </a:avLst>
          </a:prstGeom>
          <a:solidFill>
            <a:srgbClr val="E5534B"/>
          </a:solidFill>
          <a:ln/>
        </p:spPr>
      </p:sp>
      <p:sp>
        <p:nvSpPr>
          <p:cNvPr id="21" name="Text 19"/>
          <p:cNvSpPr/>
          <p:nvPr/>
        </p:nvSpPr>
        <p:spPr>
          <a:xfrm>
            <a:off x="9500616" y="359359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9500616" y="43251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5257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OpenTelemetry Demo on Kind · Prometheus / Alertmanager / Grafana · Jaeger + OTel Collector · Python 3.14, LangGraph, FastAPI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310896" cy="31089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" y="530352"/>
            <a:ext cx="109728" cy="109728"/>
          </a:xfrm>
          <a:prstGeom prst="ellipse">
            <a:avLst/>
          </a:prstGeom>
          <a:solidFill>
            <a:srgbClr val="0F1115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layers, one approval gate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621792"/>
          </a:xfrm>
          <a:prstGeom prst="roundRect">
            <a:avLst>
              <a:gd name="adj" fmla="val 13235"/>
            </a:avLst>
          </a:prstGeom>
          <a:solidFill>
            <a:srgbClr val="171A21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82296" cy="621792"/>
          </a:xfrm>
          <a:prstGeom prst="round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37160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ends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(chat.py)   ·   Web UI — Chat / Timeline / Ops Hub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066544"/>
            <a:ext cx="11247120" cy="621792"/>
          </a:xfrm>
          <a:prstGeom prst="roundRect">
            <a:avLst>
              <a:gd name="adj" fmla="val 13235"/>
            </a:avLst>
          </a:prstGeom>
          <a:solidFill>
            <a:srgbClr val="171A21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66544"/>
            <a:ext cx="82296" cy="621792"/>
          </a:xfrm>
          <a:prstGeom prst="roundRect">
            <a:avLst/>
          </a:prstGeom>
          <a:solidFill>
            <a:srgbClr val="5B8DE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66544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0" y="2066544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Copilot — LangGraph ReAct agent, 19 tools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761488"/>
            <a:ext cx="11247120" cy="621792"/>
          </a:xfrm>
          <a:prstGeom prst="roundRect">
            <a:avLst>
              <a:gd name="adj" fmla="val 13235"/>
            </a:avLst>
          </a:prstGeom>
          <a:solidFill>
            <a:srgbClr val="171A21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761488"/>
            <a:ext cx="82296" cy="621792"/>
          </a:xfrm>
          <a:prstGeom prst="roundRect">
            <a:avLst/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761488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Coordinator + Analysis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2761488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graph (RCA + runbook)   ·   Alert correlator · anomaly detector · incident search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456432"/>
            <a:ext cx="11247120" cy="621792"/>
          </a:xfrm>
          <a:prstGeom prst="roundRect">
            <a:avLst>
              <a:gd name="adj" fmla="val 13235"/>
            </a:avLst>
          </a:prstGeom>
          <a:solidFill>
            <a:srgbClr val="171A21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456432"/>
            <a:ext cx="82296" cy="621792"/>
          </a:xfrm>
          <a:prstGeom prst="round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456432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0" y="3456432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Trace · Kubernetes · Alert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151376"/>
            <a:ext cx="11247120" cy="621792"/>
          </a:xfrm>
          <a:prstGeom prst="roundRect">
            <a:avLst>
              <a:gd name="adj" fmla="val 13235"/>
            </a:avLst>
          </a:prstGeom>
          <a:solidFill>
            <a:srgbClr val="171A21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151376"/>
            <a:ext cx="82296" cy="621792"/>
          </a:xfrm>
          <a:prstGeom prst="roundRect">
            <a:avLst/>
          </a:prstGeom>
          <a:solidFill>
            <a:srgbClr val="D2992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151376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00400" y="4151376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Jaeger · Kubernetes API · Alertmanager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11247120" cy="621792"/>
          </a:xfrm>
          <a:prstGeom prst="roundRect">
            <a:avLst>
              <a:gd name="adj" fmla="val 13235"/>
            </a:avLst>
          </a:prstGeom>
          <a:solidFill>
            <a:srgbClr val="171A21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" y="4846320"/>
            <a:ext cx="82296" cy="621792"/>
          </a:xfrm>
          <a:prstGeom prst="roundRect">
            <a:avLst/>
          </a:prstGeom>
          <a:solidFill>
            <a:srgbClr val="8A90A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4846320"/>
            <a:ext cx="2286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Kind cluster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00400" y="4846320"/>
            <a:ext cx="8321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Demo app · Prometheus/Grafana/Alertmanager · Jaeger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is the only path from read to write — every layer above it is read-only.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310896" cy="31089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" y="530352"/>
            <a:ext cx="109728" cy="109728"/>
          </a:xfrm>
          <a:prstGeom prst="ellipse">
            <a:avLst/>
          </a:prstGeom>
          <a:solidFill>
            <a:srgbClr val="0F1115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write path is unreachable without a human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of the platform is read-only except one: scale_deployment. It's gated by a real pause in the LangGraph execution — not a confirmation prompt the agent could talk its way past.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171A21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743200"/>
            <a:ext cx="502920" cy="50292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1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8862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calls remediate_scale_deployment with a service, replica count, and reason.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063240" y="2880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19272" y="251460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171A21"/>
          </a:solidFill>
          <a:ln/>
        </p:spPr>
      </p:sp>
      <p:sp>
        <p:nvSpPr>
          <p:cNvPr id="14" name="Shape 12"/>
          <p:cNvSpPr/>
          <p:nvPr/>
        </p:nvSpPr>
        <p:spPr>
          <a:xfrm>
            <a:off x="3547872" y="2743200"/>
            <a:ext cx="502920" cy="50292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15" name="Text 13"/>
          <p:cNvSpPr/>
          <p:nvPr/>
        </p:nvSpPr>
        <p:spPr>
          <a:xfrm>
            <a:off x="3547872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1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47872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interrupt()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47872" y="38862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execution genuinely pauses — Command(resume=...) is the only way forward, in either direction.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25312" y="2880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181344" y="251460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171A21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9944" y="2743200"/>
            <a:ext cx="502920" cy="5029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9944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1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9944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decides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9944" y="38862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in the Web UI modal or CLI prompt. No default, no timeout-to-approve.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787384" y="2880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A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43416" y="2514600"/>
            <a:ext cx="2651760" cy="3108960"/>
          </a:xfrm>
          <a:prstGeom prst="roundRect">
            <a:avLst>
              <a:gd name="adj" fmla="val 3103"/>
            </a:avLst>
          </a:prstGeom>
          <a:solidFill>
            <a:srgbClr val="171A21"/>
          </a:solidFill>
          <a:ln/>
        </p:spPr>
      </p:sp>
      <p:sp>
        <p:nvSpPr>
          <p:cNvPr id="26" name="Shape 24"/>
          <p:cNvSpPr/>
          <p:nvPr/>
        </p:nvSpPr>
        <p:spPr>
          <a:xfrm>
            <a:off x="9272016" y="2743200"/>
            <a:ext cx="502920" cy="502920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7" name="Text 25"/>
          <p:cNvSpPr/>
          <p:nvPr/>
        </p:nvSpPr>
        <p:spPr>
          <a:xfrm>
            <a:off x="9272016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1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72016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(or don't)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272016" y="388620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approval does the cluster-mutating call ever run.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requires prior evidence-gathering in the same conversation — a purely speculative remediation call is blocked before a human ever sees it.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310896" cy="310896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" y="530352"/>
            <a:ext cx="109728" cy="109728"/>
          </a:xfrm>
          <a:prstGeom prst="ellipse">
            <a:avLst/>
          </a:prstGeom>
          <a:solidFill>
            <a:srgbClr val="0F1115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Found, then closed: five real vulnerabilities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553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1247120" cy="777240"/>
          </a:xfrm>
          <a:prstGeom prst="roundRect">
            <a:avLst>
              <a:gd name="adj" fmla="val 10588"/>
            </a:avLst>
          </a:prstGeom>
          <a:solidFill>
            <a:srgbClr val="171A21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947672"/>
            <a:ext cx="201168" cy="20116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18745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 bypassable over the network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60520" y="18745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server.py bound 0.0.0.0 with no auth — anyone reaching the port could approve a pending remediation.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75320" y="1947672"/>
            <a:ext cx="201168" cy="20116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18745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127.0.0.1 by default + Google OIDC on every human-facing route.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11247120" cy="777240"/>
          </a:xfrm>
          <a:prstGeom prst="roundRect">
            <a:avLst>
              <a:gd name="adj" fmla="val 10588"/>
            </a:avLst>
          </a:prstGeom>
          <a:solidFill>
            <a:srgbClr val="171A21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" y="2862072"/>
            <a:ext cx="201168" cy="20116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7889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 into the approval flow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160520" y="27889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Alert-derived fields interpolated into innerHTML unescaped — an attacker-controlled alertname could execute script.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2862072"/>
            <a:ext cx="201168" cy="20116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7"/>
          <p:cNvSpPr/>
          <p:nvPr/>
        </p:nvSpPr>
        <p:spPr>
          <a:xfrm>
            <a:off x="8595360" y="27889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render path rebuilt with textContent, never innerHTML.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11247120" cy="777240"/>
          </a:xfrm>
          <a:prstGeom prst="roundRect">
            <a:avLst>
              <a:gd name="adj" fmla="val 10588"/>
            </a:avLst>
          </a:prstGeom>
          <a:solidFill>
            <a:srgbClr val="171A21"/>
          </a:solidFill>
          <a:ln/>
        </p:spPr>
      </p:sp>
      <p:sp>
        <p:nvSpPr>
          <p:cNvPr id="21" name="Shape 19"/>
          <p:cNvSpPr/>
          <p:nvPr/>
        </p:nvSpPr>
        <p:spPr>
          <a:xfrm>
            <a:off x="658368" y="3776472"/>
            <a:ext cx="201168" cy="20116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7033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 injection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160520" y="37033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names from LLM tool calls (sourced from untrusted alert annotations) were f-string'd into queries.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75320" y="3776472"/>
            <a:ext cx="201168" cy="20116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0" y="37033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 string-literal escaping at every interpolation point.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526280"/>
            <a:ext cx="11247120" cy="777240"/>
          </a:xfrm>
          <a:prstGeom prst="roundRect">
            <a:avLst>
              <a:gd name="adj" fmla="val 10588"/>
            </a:avLst>
          </a:prstGeom>
          <a:solidFill>
            <a:srgbClr val="171A21"/>
          </a:solidFill>
          <a:ln/>
        </p:spPr>
      </p:sp>
      <p:sp>
        <p:nvSpPr>
          <p:cNvPr id="27" name="Shape 25"/>
          <p:cNvSpPr/>
          <p:nvPr/>
        </p:nvSpPr>
        <p:spPr>
          <a:xfrm>
            <a:off x="658368" y="4690872"/>
            <a:ext cx="201168" cy="20116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28" name="Text 26"/>
          <p:cNvSpPr/>
          <p:nvPr/>
        </p:nvSpPr>
        <p:spPr>
          <a:xfrm>
            <a:off x="960120" y="46177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background investigations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160520" y="46177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40-alert cascade could fire 40 concurrent multi-LLM-call investigations with no cap.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75320" y="4690872"/>
            <a:ext cx="201168" cy="20116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1" name="Text 29"/>
          <p:cNvSpPr/>
          <p:nvPr/>
        </p:nvSpPr>
        <p:spPr>
          <a:xfrm>
            <a:off x="8595360" y="46177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semaphore (default 3); excess incidents queue instead of piling 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5440680"/>
            <a:ext cx="11247120" cy="777240"/>
          </a:xfrm>
          <a:prstGeom prst="roundRect">
            <a:avLst>
              <a:gd name="adj" fmla="val 10588"/>
            </a:avLst>
          </a:prstGeom>
          <a:solidFill>
            <a:srgbClr val="171A21"/>
          </a:solidFill>
          <a:ln/>
        </p:spPr>
      </p:sp>
      <p:sp>
        <p:nvSpPr>
          <p:cNvPr id="33" name="Shape 31"/>
          <p:cNvSpPr/>
          <p:nvPr/>
        </p:nvSpPr>
        <p:spPr>
          <a:xfrm>
            <a:off x="658368" y="5605272"/>
            <a:ext cx="201168" cy="201168"/>
          </a:xfrm>
          <a:prstGeom prst="ellipse">
            <a:avLst/>
          </a:prstGeom>
          <a:solidFill>
            <a:srgbClr val="E5534B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553212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architecture / package hygiene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160520" y="553212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scattered sys.path hacks, an unimportable ai-platform directory name, a stdlib name collision.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75320" y="5605272"/>
            <a:ext cx="201168" cy="201168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7" name="Text 35"/>
          <p:cNvSpPr/>
          <p:nvPr/>
        </p:nvSpPr>
        <p:spPr>
          <a:xfrm>
            <a:off x="8595360" y="553212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installable package, 37 files converted to package-qualified imports.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310896" cy="310896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" y="530352"/>
            <a:ext cx="109728" cy="109728"/>
          </a:xfrm>
          <a:prstGeom prst="ellipse">
            <a:avLst/>
          </a:prstGeom>
          <a:solidFill>
            <a:srgbClr val="0F1115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DECISION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auth, and defense-in-depth for data leaving the cluster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171A2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OIDC sign-in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a shared-secret API key with per-user Google sign-in — a signed, httponly session cookie, not a secret every user shares.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21868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ALLOWED_GOOGLE_EMAILS / ALLOWED_GOOGLE_DOMAIN allowlists layer authorization on top of authentication.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151376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exception: Alertmanager's webhook keeps a scoped Bearer-token secret, since a machine can't complete an OAuth redirect.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5084064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gap, stated plainly: no per-role authorization yet — every allowlisted user can also approve a remediation.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171A2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/ secret redaction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logs, K8s events, and RCA text reach a third-party LLM and get persisted to SQLite — nothing upstream guaranteed no PII in that path.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218688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scrub for emails, SSNs, card numbers, phone numbers, API keys — applied twice: at the source client, and again as a backstop when the copilot serializes results.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4151376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 and hostnames deliberately left alone — core SRE signal, not personal data.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5084064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honestly as a floor, not a guarantee: pattern-based, will miss free-text PII.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310896" cy="31089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" y="530352"/>
            <a:ext cx="109728" cy="109728"/>
          </a:xfrm>
          <a:prstGeom prst="ellipse">
            <a:avLst/>
          </a:prstGeom>
          <a:solidFill>
            <a:srgbClr val="0F1115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tabs, one incident data source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611880" cy="4572000"/>
          </a:xfrm>
          <a:prstGeom prst="roundRect">
            <a:avLst>
              <a:gd name="adj" fmla="val 2278"/>
            </a:avLst>
          </a:prstGeom>
          <a:solidFill>
            <a:srgbClr val="171A21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hub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landing tab. Incident count, resolution rate, median time-to-mitigate, pending approvals, a daily volume/outcomes chart, and recent incidents — all aggregated server-side from the same data the other two tabs read.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79392" y="1463040"/>
            <a:ext cx="3611880" cy="4572000"/>
          </a:xfrm>
          <a:prstGeom prst="roundRect">
            <a:avLst>
              <a:gd name="adj" fmla="val 2278"/>
            </a:avLst>
          </a:prstGeom>
          <a:solidFill>
            <a:srgbClr val="171A21"/>
          </a:solidFill>
          <a:ln/>
        </p:spPr>
      </p:sp>
      <p:sp>
        <p:nvSpPr>
          <p:cNvPr id="11" name="Shape 9"/>
          <p:cNvSpPr/>
          <p:nvPr/>
        </p:nvSpPr>
        <p:spPr>
          <a:xfrm>
            <a:off x="4553712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D29922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53712" y="29260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auto-triaged incident, grouped by day, oldest to newest — the sequence of a cascading outage reads top to bottom the way it actually happened.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611880" cy="4572000"/>
          </a:xfrm>
          <a:prstGeom prst="roundRect">
            <a:avLst>
              <a:gd name="adj" fmla="val 2278"/>
            </a:avLst>
          </a:prstGeom>
          <a:solidFill>
            <a:srgbClr val="171A21"/>
          </a:solidFill>
          <a:ln/>
        </p:spPr>
      </p:sp>
      <p:sp>
        <p:nvSpPr>
          <p:cNvPr id="15" name="Shape 13"/>
          <p:cNvSpPr/>
          <p:nvPr/>
        </p:nvSpPr>
        <p:spPr>
          <a:xfrm>
            <a:off x="8375904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FB950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377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75904" y="29260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copilot with a live tool-call trace and the approval modal — ask a question, or click into any incident from the other two tabs to see its investigation.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310896" cy="31089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" y="530352"/>
            <a:ext cx="109728" cy="109728"/>
          </a:xfrm>
          <a:prstGeom prst="ellipse">
            <a:avLst/>
          </a:prstGeom>
          <a:solidFill>
            <a:srgbClr val="0F1115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walk through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171A21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1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64592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Trigger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286000"/>
            <a:ext cx="31821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scale deployment product-catalog --replicas=0 — a real failure in the live cluster.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15384" y="141732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171A21"/>
          </a:solidFill>
          <a:ln/>
        </p:spPr>
      </p:sp>
      <p:sp>
        <p:nvSpPr>
          <p:cNvPr id="12" name="Shape 10"/>
          <p:cNvSpPr/>
          <p:nvPr/>
        </p:nvSpPr>
        <p:spPr>
          <a:xfrm>
            <a:off x="4443984" y="1645920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3" name="Text 11"/>
          <p:cNvSpPr/>
          <p:nvPr/>
        </p:nvSpPr>
        <p:spPr>
          <a:xfrm>
            <a:off x="4443984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1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38344" y="164592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Auto-triage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43984" y="2286000"/>
            <a:ext cx="31821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posts to the webhook; the copilot picks it up with nobody asking, no polling.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73568" y="141732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171A21"/>
          </a:solidFill>
          <a:ln/>
        </p:spPr>
      </p:sp>
      <p:sp>
        <p:nvSpPr>
          <p:cNvPr id="17" name="Shape 15"/>
          <p:cNvSpPr/>
          <p:nvPr/>
        </p:nvSpPr>
        <p:spPr>
          <a:xfrm>
            <a:off x="8202168" y="1645920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18" name="Text 16"/>
          <p:cNvSpPr/>
          <p:nvPr/>
        </p:nvSpPr>
        <p:spPr>
          <a:xfrm>
            <a:off x="8202168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1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796528" y="164592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02168" y="2286000"/>
            <a:ext cx="31821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trace, and Kubernetes agents gather evidence in parallel; the coordinator correlates it.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70332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171A21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3931920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1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80160" y="393192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+ runbook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4572000"/>
            <a:ext cx="31821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produces a grounded RCA and an execution-ready remediation runbook.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15384" y="370332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171A21"/>
          </a:solidFill>
          <a:ln/>
        </p:spPr>
      </p:sp>
      <p:sp>
        <p:nvSpPr>
          <p:cNvPr id="27" name="Shape 25"/>
          <p:cNvSpPr/>
          <p:nvPr/>
        </p:nvSpPr>
        <p:spPr>
          <a:xfrm>
            <a:off x="4443984" y="3931920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28" name="Text 26"/>
          <p:cNvSpPr/>
          <p:nvPr/>
        </p:nvSpPr>
        <p:spPr>
          <a:xfrm>
            <a:off x="4443984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1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38344" y="393192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443984" y="4572000"/>
            <a:ext cx="31821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fix parks on awaiting_approval until a human clicks Approve — in the Web UI or CLI.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973568" y="3703320"/>
            <a:ext cx="3639312" cy="2148840"/>
          </a:xfrm>
          <a:prstGeom prst="roundRect">
            <a:avLst>
              <a:gd name="adj" fmla="val 3830"/>
            </a:avLst>
          </a:prstGeom>
          <a:solidFill>
            <a:srgbClr val="171A21"/>
          </a:solidFill>
          <a:ln/>
        </p:spPr>
      </p:sp>
      <p:sp>
        <p:nvSpPr>
          <p:cNvPr id="32" name="Shape 30"/>
          <p:cNvSpPr/>
          <p:nvPr/>
        </p:nvSpPr>
        <p:spPr>
          <a:xfrm>
            <a:off x="8202168" y="3931920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3" name="Text 31"/>
          <p:cNvSpPr/>
          <p:nvPr/>
        </p:nvSpPr>
        <p:spPr>
          <a:xfrm>
            <a:off x="8202168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11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96528" y="393192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02168" y="4572000"/>
            <a:ext cx="318211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Hub's KPIs and the Timeline update live — resolution rate, time-to-mitigate, the works.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310896" cy="310896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" y="530352"/>
            <a:ext cx="109728" cy="109728"/>
          </a:xfrm>
          <a:prstGeom prst="ellipse">
            <a:avLst/>
          </a:prstGeom>
          <a:solidFill>
            <a:srgbClr val="0F1115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BAR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milestone shipped with tests, not just code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6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suite is mocked — no cluster, API key, or network required to run it. Live-cluster smoke scripts exist separately and are deliberately excluded from the offline run.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run pytest — 193 tests, zero cluster dependency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four subpackages owns its own tests/ directory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fixes shipped with regression tests, not just patches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Hub KPI math independently unit-tested against seeded incident records</a:t>
            </a:r>
            <a:endParaRPr lang="en-US" sz="12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406640" y="1417320"/>
          <a:ext cx="42976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29768"/>
            <a:ext cx="310896" cy="310896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3" name="Shape 1"/>
          <p:cNvSpPr/>
          <p:nvPr/>
        </p:nvSpPr>
        <p:spPr>
          <a:xfrm>
            <a:off x="557784" y="530352"/>
            <a:ext cx="109728" cy="109728"/>
          </a:xfrm>
          <a:prstGeom prst="ellipse">
            <a:avLst/>
          </a:prstGeom>
          <a:solidFill>
            <a:srgbClr val="0F1115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3840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9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7955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Stated plainly, not hidden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171A2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Accepted trade-offs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per-role authorization — every allowlisted user can also approve a remediation.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is pattern-based, not a compliance-grade classifier.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client secrets and the session key still live in plaintext .env.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937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refresh isn't implemented — sessions simply expire after 8 hours.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440680" cy="4572000"/>
          </a:xfrm>
          <a:prstGeom prst="roundRect">
            <a:avLst>
              <a:gd name="adj" fmla="val 1800"/>
            </a:avLst>
          </a:prstGeom>
          <a:solidFill>
            <a:srgbClr val="171A2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7373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8D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roadmap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Microsoft Teams integration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32004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support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406908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493776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2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embedding-based incident search (current search is TF-IDF keyword overlap)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91440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C2029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26680" y="1508760"/>
            <a:ext cx="3566160" cy="457200"/>
          </a:xfrm>
          <a:prstGeom prst="roundRect">
            <a:avLst>
              <a:gd name="adj" fmla="val 16000"/>
            </a:avLst>
          </a:prstGeom>
          <a:solidFill>
            <a:srgbClr val="171A21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210312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232838"/>
          </a:solidFill>
          <a:ln w="12700">
            <a:solidFill>
              <a:srgbClr val="2A2E3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81160" y="36576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90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SRE Platform — thank you.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2026-08-04T08:23:28Z</dcterms:created>
  <dcterms:modified xsi:type="dcterms:W3CDTF">2026-08-04T08:23:28Z</dcterms:modified>
</cp:coreProperties>
</file>